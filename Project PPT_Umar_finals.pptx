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21"/>
  </p:notesMasterIdLst>
  <p:handoutMasterIdLst>
    <p:handoutMasterId r:id="rId22"/>
  </p:handoutMasterIdLst>
  <p:sldIdLst>
    <p:sldId id="277" r:id="rId4"/>
    <p:sldId id="399" r:id="rId5"/>
    <p:sldId id="400" r:id="rId6"/>
    <p:sldId id="401" r:id="rId7"/>
    <p:sldId id="402" r:id="rId8"/>
    <p:sldId id="408" r:id="rId9"/>
    <p:sldId id="409" r:id="rId10"/>
    <p:sldId id="403" r:id="rId11"/>
    <p:sldId id="410" r:id="rId12"/>
    <p:sldId id="412" r:id="rId13"/>
    <p:sldId id="411" r:id="rId14"/>
    <p:sldId id="413" r:id="rId15"/>
    <p:sldId id="414" r:id="rId16"/>
    <p:sldId id="415" r:id="rId17"/>
    <p:sldId id="416" r:id="rId18"/>
    <p:sldId id="417" r:id="rId19"/>
    <p:sldId id="4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81CED-D014-4A2A-87E9-4CB7E9EC382F}" v="9" dt="2025-04-11T00:36:31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51" d="100"/>
          <a:sy n="51" d="100"/>
        </p:scale>
        <p:origin x="53" y="7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Umar" userId="64611bd63579a2be" providerId="LiveId" clId="{92F81CED-D014-4A2A-87E9-4CB7E9EC382F}"/>
    <pc:docChg chg="modSld">
      <pc:chgData name="Mohammad Umar" userId="64611bd63579a2be" providerId="LiveId" clId="{92F81CED-D014-4A2A-87E9-4CB7E9EC382F}" dt="2025-04-11T00:56:06.656" v="74" actId="255"/>
      <pc:docMkLst>
        <pc:docMk/>
      </pc:docMkLst>
      <pc:sldChg chg="modSp mod">
        <pc:chgData name="Mohammad Umar" userId="64611bd63579a2be" providerId="LiveId" clId="{92F81CED-D014-4A2A-87E9-4CB7E9EC382F}" dt="2025-04-11T00:38:50.328" v="65" actId="20577"/>
        <pc:sldMkLst>
          <pc:docMk/>
          <pc:sldMk cId="2605982579" sldId="399"/>
        </pc:sldMkLst>
        <pc:spChg chg="mod">
          <ac:chgData name="Mohammad Umar" userId="64611bd63579a2be" providerId="LiveId" clId="{92F81CED-D014-4A2A-87E9-4CB7E9EC382F}" dt="2025-04-11T00:38:50.328" v="65" actId="20577"/>
          <ac:spMkLst>
            <pc:docMk/>
            <pc:sldMk cId="2605982579" sldId="399"/>
            <ac:spMk id="3" creationId="{00000000-0000-0000-0000-000000000000}"/>
          </ac:spMkLst>
        </pc:spChg>
      </pc:sldChg>
      <pc:sldChg chg="modSp mod">
        <pc:chgData name="Mohammad Umar" userId="64611bd63579a2be" providerId="LiveId" clId="{92F81CED-D014-4A2A-87E9-4CB7E9EC382F}" dt="2025-04-11T00:56:06.656" v="74" actId="255"/>
        <pc:sldMkLst>
          <pc:docMk/>
          <pc:sldMk cId="1378827307" sldId="415"/>
        </pc:sldMkLst>
        <pc:spChg chg="mod">
          <ac:chgData name="Mohammad Umar" userId="64611bd63579a2be" providerId="LiveId" clId="{92F81CED-D014-4A2A-87E9-4CB7E9EC382F}" dt="2025-04-11T00:56:06.656" v="74" actId="255"/>
          <ac:spMkLst>
            <pc:docMk/>
            <pc:sldMk cId="1378827307" sldId="415"/>
            <ac:spMk id="3" creationId="{CAF14750-D1E8-37F8-F109-2644BFE90215}"/>
          </ac:spMkLst>
        </pc:spChg>
      </pc:sldChg>
      <pc:sldChg chg="modSp mod">
        <pc:chgData name="Mohammad Umar" userId="64611bd63579a2be" providerId="LiveId" clId="{92F81CED-D014-4A2A-87E9-4CB7E9EC382F}" dt="2025-04-11T00:50:45.745" v="71" actId="113"/>
        <pc:sldMkLst>
          <pc:docMk/>
          <pc:sldMk cId="1727761029" sldId="416"/>
        </pc:sldMkLst>
        <pc:spChg chg="mod">
          <ac:chgData name="Mohammad Umar" userId="64611bd63579a2be" providerId="LiveId" clId="{92F81CED-D014-4A2A-87E9-4CB7E9EC382F}" dt="2025-04-11T00:50:45.745" v="71" actId="113"/>
          <ac:spMkLst>
            <pc:docMk/>
            <pc:sldMk cId="1727761029" sldId="416"/>
            <ac:spMk id="2" creationId="{A849F20F-42F3-05EF-B083-6783CE8C968C}"/>
          </ac:spMkLst>
        </pc:spChg>
      </pc:sldChg>
      <pc:sldChg chg="modSp mod">
        <pc:chgData name="Mohammad Umar" userId="64611bd63579a2be" providerId="LiveId" clId="{92F81CED-D014-4A2A-87E9-4CB7E9EC382F}" dt="2025-04-11T00:50:13.193" v="68" actId="114"/>
        <pc:sldMkLst>
          <pc:docMk/>
          <pc:sldMk cId="2559793126" sldId="417"/>
        </pc:sldMkLst>
        <pc:spChg chg="mod">
          <ac:chgData name="Mohammad Umar" userId="64611bd63579a2be" providerId="LiveId" clId="{92F81CED-D014-4A2A-87E9-4CB7E9EC382F}" dt="2025-04-11T00:50:13.193" v="68" actId="114"/>
          <ac:spMkLst>
            <pc:docMk/>
            <pc:sldMk cId="2559793126" sldId="417"/>
            <ac:spMk id="15" creationId="{0660CE9C-1B1C-786E-79C7-41AEE19CED1C}"/>
          </ac:spMkLst>
        </pc:spChg>
        <pc:spChg chg="mod">
          <ac:chgData name="Mohammad Umar" userId="64611bd63579a2be" providerId="LiveId" clId="{92F81CED-D014-4A2A-87E9-4CB7E9EC382F}" dt="2025-04-11T00:30:19.913" v="9" actId="20577"/>
          <ac:spMkLst>
            <pc:docMk/>
            <pc:sldMk cId="2559793126" sldId="417"/>
            <ac:spMk id="19" creationId="{91E77B1A-2EB4-5231-879B-149B77FB51C6}"/>
          </ac:spMkLst>
        </pc:spChg>
      </pc:sldChg>
      <pc:sldChg chg="modSp mod">
        <pc:chgData name="Mohammad Umar" userId="64611bd63579a2be" providerId="LiveId" clId="{92F81CED-D014-4A2A-87E9-4CB7E9EC382F}" dt="2025-04-11T00:55:32.720" v="72" actId="2711"/>
        <pc:sldMkLst>
          <pc:docMk/>
          <pc:sldMk cId="1356939659" sldId="418"/>
        </pc:sldMkLst>
        <pc:spChg chg="mod">
          <ac:chgData name="Mohammad Umar" userId="64611bd63579a2be" providerId="LiveId" clId="{92F81CED-D014-4A2A-87E9-4CB7E9EC382F}" dt="2025-04-11T00:37:43.698" v="44" actId="2711"/>
          <ac:spMkLst>
            <pc:docMk/>
            <pc:sldMk cId="1356939659" sldId="418"/>
            <ac:spMk id="5" creationId="{F2B0425D-BF19-8826-53E1-88B31779C5AC}"/>
          </ac:spMkLst>
        </pc:spChg>
        <pc:spChg chg="mod">
          <ac:chgData name="Mohammad Umar" userId="64611bd63579a2be" providerId="LiveId" clId="{92F81CED-D014-4A2A-87E9-4CB7E9EC382F}" dt="2025-04-11T00:38:00.013" v="48" actId="20577"/>
          <ac:spMkLst>
            <pc:docMk/>
            <pc:sldMk cId="1356939659" sldId="418"/>
            <ac:spMk id="6" creationId="{F355DB5D-2378-C58C-5F8F-56CDA6054459}"/>
          </ac:spMkLst>
        </pc:spChg>
        <pc:spChg chg="mod">
          <ac:chgData name="Mohammad Umar" userId="64611bd63579a2be" providerId="LiveId" clId="{92F81CED-D014-4A2A-87E9-4CB7E9EC382F}" dt="2025-04-11T00:37:43.698" v="44" actId="2711"/>
          <ac:spMkLst>
            <pc:docMk/>
            <pc:sldMk cId="1356939659" sldId="418"/>
            <ac:spMk id="7" creationId="{22A075B7-1FE6-66EF-E1D4-1F37FD8D596A}"/>
          </ac:spMkLst>
        </pc:spChg>
        <pc:graphicFrameChg chg="mod modGraphic">
          <ac:chgData name="Mohammad Umar" userId="64611bd63579a2be" providerId="LiveId" clId="{92F81CED-D014-4A2A-87E9-4CB7E9EC382F}" dt="2025-04-11T00:55:32.720" v="72" actId="2711"/>
          <ac:graphicFrameMkLst>
            <pc:docMk/>
            <pc:sldMk cId="1356939659" sldId="418"/>
            <ac:graphicFrameMk id="8" creationId="{2C2D10F3-623D-0170-6017-142AD5B16AB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SCIENCE 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B.Sc. CSM (Computer Science , Statistics and Mathematics)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Department of Mathematics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73716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Recommendation System using Machine Learning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32175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Umar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ID: 22BNM20076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3070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Shivani Kamboj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Identification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project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Design and Methodology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Movie Recommendation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system that suggests movies based on user preferences.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OTT-specific models, this system is platform-independent and adapts to new data updates.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advanced ML techniques for personalized recommendations.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Project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have accounts on multiple streaming platforms but get recommendations limited to each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system for recommending movies across different OTTs.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discover movies from different sources without bias towards a single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ML implementation, reinforcing key learning in recommendation systems.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platform-independent recommendation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ML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recommendation accuracy by optimizing similarity measures and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adaptability to new data for up-to-date recommendations.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0037-C4AA-4F3B-6D7C-A616FC8E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FEFD4-90B6-FDC0-0CB2-107C7DB7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F68D46-B49B-9A42-5DF4-C994A4F7A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8340"/>
            <a:ext cx="1145858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 and clean large-scale movie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Experiment with collaborative filtering, content-based,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hybrid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Measure accuracy using RMSE, precision, recall,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A/B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the system can handle growing data and user base </a:t>
            </a:r>
          </a:p>
        </p:txBody>
      </p:sp>
    </p:spTree>
    <p:extLst>
      <p:ext uri="{BB962C8B-B14F-4D97-AF65-F5344CB8AC3E}">
        <p14:creationId xmlns:p14="http://schemas.microsoft.com/office/powerpoint/2010/main" val="41657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9E84-105A-790B-5374-A616CB0A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DB641-DF7E-9FC1-5C10-18B85C8AB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Netflix or Prime Video, this model is platform-independent.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dynamic data updates to stay relevant.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user-item interactions to improve predictions over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C014-4C11-8AE9-491F-032157EF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96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Design and Methodology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86B4567-78C9-F74E-BD2B-090D64CAB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62" y="2186093"/>
            <a:ext cx="924483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ratings or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preprocessed, cleaned, and transformed into a user-item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KNN-based collaborative filtering or matrix factorization models predict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unseen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recommendations are presented to the user</a:t>
            </a:r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07DE-7F1F-800E-7A02-440D82C8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1E2F8-FD62-E69B-18E3-70582D3E6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Selection (MovieLens 20M dataset)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(Cleaning, handling missing values, encoding)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Recommendation Models (Collaborative filtering, KNN, Matrix Factorization)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Optimization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the Model (Future Scope)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AE482-272A-064E-7EB1-4F7C7EB0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796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35570-924A-B348-7EEE-D8E43CF7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C4DFE2E5-32E0-61AE-DCA1-DD58228A8B73}"/>
              </a:ext>
            </a:extLst>
          </p:cNvPr>
          <p:cNvSpPr/>
          <p:nvPr/>
        </p:nvSpPr>
        <p:spPr>
          <a:xfrm>
            <a:off x="4505131" y="93306"/>
            <a:ext cx="2323322" cy="97971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Selection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B92878-487E-6D3F-B581-0B8B9A3E2D97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666792" y="1073020"/>
            <a:ext cx="0" cy="2332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38ABB3F-0D17-2B75-73EA-D8DF12764344}"/>
              </a:ext>
            </a:extLst>
          </p:cNvPr>
          <p:cNvSpPr/>
          <p:nvPr/>
        </p:nvSpPr>
        <p:spPr>
          <a:xfrm>
            <a:off x="4593772" y="1305183"/>
            <a:ext cx="2146040" cy="747551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FA1B56-EE22-3AE3-21A1-35F5DF1A20FC}"/>
              </a:ext>
            </a:extLst>
          </p:cNvPr>
          <p:cNvCxnSpPr>
            <a:cxnSpLocks/>
          </p:cNvCxnSpPr>
          <p:nvPr/>
        </p:nvCxnSpPr>
        <p:spPr>
          <a:xfrm>
            <a:off x="5666788" y="2052734"/>
            <a:ext cx="4" cy="2519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F32B7ACF-1F42-26A4-9C14-F4313A267596}"/>
              </a:ext>
            </a:extLst>
          </p:cNvPr>
          <p:cNvSpPr/>
          <p:nvPr/>
        </p:nvSpPr>
        <p:spPr>
          <a:xfrm>
            <a:off x="4609322" y="2275565"/>
            <a:ext cx="2146033" cy="867747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64B31D-F83F-CE05-EFD7-D2EEDECF77E3}"/>
              </a:ext>
            </a:extLst>
          </p:cNvPr>
          <p:cNvCxnSpPr>
            <a:cxnSpLocks/>
          </p:cNvCxnSpPr>
          <p:nvPr/>
        </p:nvCxnSpPr>
        <p:spPr>
          <a:xfrm>
            <a:off x="5704111" y="3143312"/>
            <a:ext cx="0" cy="285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EC53FC0-5318-F4AE-274C-91E5631BFC80}"/>
              </a:ext>
            </a:extLst>
          </p:cNvPr>
          <p:cNvSpPr/>
          <p:nvPr/>
        </p:nvSpPr>
        <p:spPr>
          <a:xfrm>
            <a:off x="4624875" y="3422128"/>
            <a:ext cx="2146040" cy="867747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Recommendation Models</a:t>
            </a:r>
            <a:endParaRPr lang="en-IN" sz="1600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BA4A7AC1-85E5-7E87-9F05-B139A821CBEB}"/>
              </a:ext>
            </a:extLst>
          </p:cNvPr>
          <p:cNvSpPr/>
          <p:nvPr/>
        </p:nvSpPr>
        <p:spPr>
          <a:xfrm>
            <a:off x="4624875" y="4568691"/>
            <a:ext cx="2146040" cy="731097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Optimization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2B9332-93CA-5137-305E-59EC3FE54854}"/>
              </a:ext>
            </a:extLst>
          </p:cNvPr>
          <p:cNvCxnSpPr>
            <a:cxnSpLocks/>
          </p:cNvCxnSpPr>
          <p:nvPr/>
        </p:nvCxnSpPr>
        <p:spPr>
          <a:xfrm>
            <a:off x="5697895" y="4289875"/>
            <a:ext cx="0" cy="282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1E00BB-1DCD-34FD-4B4E-6C0C4280CD92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5697895" y="5299788"/>
            <a:ext cx="0" cy="278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521ECB8E-7A74-2376-043E-EA5DA619C056}"/>
              </a:ext>
            </a:extLst>
          </p:cNvPr>
          <p:cNvSpPr/>
          <p:nvPr/>
        </p:nvSpPr>
        <p:spPr>
          <a:xfrm>
            <a:off x="4536234" y="5578604"/>
            <a:ext cx="2323321" cy="1186090"/>
          </a:xfrm>
          <a:prstGeom prst="flowChartDecisi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the Model </a:t>
            </a:r>
          </a:p>
        </p:txBody>
      </p:sp>
    </p:spTree>
    <p:extLst>
      <p:ext uri="{BB962C8B-B14F-4D97-AF65-F5344CB8AC3E}">
        <p14:creationId xmlns:p14="http://schemas.microsoft.com/office/powerpoint/2010/main" val="194178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3455-40F2-B897-7D15-6010CA94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156A7-07FB-94E6-07AC-963923A0B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NumPy, Scikit-Learn, Surprise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MovieLens 20M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KNN, Collaborative Filtering, Matrix Factorization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F8920-6F67-9D32-347F-BED70DE1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1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E4A8-F1F2-E5CB-9F16-62DF3C280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spc="-10" dirty="0">
                <a:latin typeface="Times New Roman"/>
                <a:cs typeface="Times New Roman"/>
              </a:rPr>
              <a:t>Results and Outputs: 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E5DC7-6808-0B7D-1F15-E864F881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Key Outcomes of the Project: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Successfully built a </a:t>
            </a:r>
            <a:r>
              <a:rPr lang="en-US" sz="2000" b="1" dirty="0"/>
              <a:t>platform independent movie recommendation system </a:t>
            </a:r>
            <a:r>
              <a:rPr lang="en-US" sz="2000" dirty="0"/>
              <a:t>.</a:t>
            </a:r>
            <a:r>
              <a:rPr lang="en-US" sz="2000" b="1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Achieved completion of all key project goals as per initial roadmap.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Functional codebase tested and validated.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Visual insights generated from the dataset (ratings distribution, etc.).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Positive feedback from judges/panel.</a:t>
            </a:r>
          </a:p>
          <a:p>
            <a:pPr marL="0" indent="0">
              <a:buNone/>
            </a:pPr>
            <a:endParaRPr lang="en-IN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0F4A7-F83B-5A00-FDCE-AAE3E5F2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3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5DB3-48D6-BEA9-8673-4E85D200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078"/>
          </a:xfrm>
        </p:spPr>
        <p:txBody>
          <a:bodyPr>
            <a:norm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Against Original Plan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FA5BB4-A006-7BDE-016A-8A8027884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394548"/>
              </p:ext>
            </p:extLst>
          </p:nvPr>
        </p:nvGraphicFramePr>
        <p:xfrm>
          <a:off x="838200" y="1366810"/>
          <a:ext cx="10515600" cy="400555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063477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576573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613109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62491233"/>
                    </a:ext>
                  </a:extLst>
                </a:gridCol>
              </a:tblGrid>
              <a:tr h="709645">
                <a:tc>
                  <a:txBody>
                    <a:bodyPr/>
                    <a:lstStyle/>
                    <a:p>
                      <a:r>
                        <a:rPr lang="en-US" sz="2400" b="1" dirty="0"/>
                        <a:t>Task </a:t>
                      </a:r>
                      <a:endParaRPr lang="en-IN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Planned Timeline</a:t>
                      </a:r>
                      <a:endParaRPr lang="en-IN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Actual Completion </a:t>
                      </a:r>
                      <a:endParaRPr lang="en-IN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Remarks</a:t>
                      </a:r>
                      <a:endParaRPr lang="en-IN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440148"/>
                  </a:ext>
                </a:extLst>
              </a:tr>
              <a:tr h="575601">
                <a:tc>
                  <a:txBody>
                    <a:bodyPr/>
                    <a:lstStyle/>
                    <a:p>
                      <a:r>
                        <a:rPr lang="en-US" dirty="0"/>
                        <a:t>Data Collection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On Track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941487"/>
                  </a:ext>
                </a:extLst>
              </a:tr>
              <a:tr h="993502">
                <a:tc>
                  <a:txBody>
                    <a:bodyPr/>
                    <a:lstStyle/>
                    <a:p>
                      <a:r>
                        <a:rPr lang="en-US" dirty="0"/>
                        <a:t>Preprocessing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1-2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⚠️ Slight delay (data cleaning)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582895"/>
                  </a:ext>
                </a:extLst>
              </a:tr>
              <a:tr h="575601">
                <a:tc>
                  <a:txBody>
                    <a:bodyPr/>
                    <a:lstStyle/>
                    <a:p>
                      <a:r>
                        <a:rPr lang="en-US" dirty="0"/>
                        <a:t>Model Training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2-3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On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056100"/>
                  </a:ext>
                </a:extLst>
              </a:tr>
              <a:tr h="575601">
                <a:tc>
                  <a:txBody>
                    <a:bodyPr/>
                    <a:lstStyle/>
                    <a:p>
                      <a:r>
                        <a:rPr lang="en-US" dirty="0"/>
                        <a:t>Evaluation &amp; Visualization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Completed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638155"/>
                  </a:ext>
                </a:extLst>
              </a:tr>
              <a:tr h="575601">
                <a:tc>
                  <a:txBody>
                    <a:bodyPr/>
                    <a:lstStyle/>
                    <a:p>
                      <a:r>
                        <a:rPr lang="en-US" dirty="0"/>
                        <a:t>Presentation Preparation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Done &amp; Presented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0759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4D14B-D53E-E08D-C26B-2B72EE63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1190" y="5007236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2A797-AF8B-D6F2-FA0E-111BEF28BC6D}"/>
              </a:ext>
            </a:extLst>
          </p:cNvPr>
          <p:cNvSpPr txBox="1"/>
          <p:nvPr/>
        </p:nvSpPr>
        <p:spPr>
          <a:xfrm>
            <a:off x="838200" y="5635689"/>
            <a:ext cx="8436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deliverables were met successfully with minimal deviation from the original plan.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77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CD45-2DB1-539C-7C3E-89715948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Refinements in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14750-D1E8-37F8-F109-2644BFE90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considered simple statistical methods → shifted to more robust recommendation techniques.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Reduced noise, handled missing values, filtered rare movies/users.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 parameters for better results.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efficiency improved using vectorization and concise plotting (e.g., using one-liners for visuals like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['rating'].hist()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8D17E-6D10-9BF9-A3F7-FD90752C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827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F20F-42F3-05EF-B083-6783CE8C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9012"/>
            <a:ext cx="3932237" cy="10683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Distribution – User Behavior Insight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CB414B-74ED-9474-065D-7C0FB8508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734548"/>
            <a:ext cx="7040224" cy="4940816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CED23A-77AE-885F-BA2D-4F6E804C7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06118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“Distribution of Movie Ratings”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ratings clustered around 3.5–4.5, suggesting a bias toward positive reviews.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frequency of ratings below 2 indicates users mostly rate liked movies.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potential skew in user input, important for recommendation tuning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450F8-F458-9A36-F8D3-0490F932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4AE22-ECF9-516E-007B-AFF68C124485}"/>
              </a:ext>
            </a:extLst>
          </p:cNvPr>
          <p:cNvSpPr txBox="1"/>
          <p:nvPr/>
        </p:nvSpPr>
        <p:spPr>
          <a:xfrm>
            <a:off x="839788" y="5675363"/>
            <a:ext cx="8559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insights into how users interact with the platform.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761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91EE8D1-CC4D-FB0D-3846-1A2ACE48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157"/>
          </a:xfrm>
        </p:spPr>
        <p:txBody>
          <a:bodyPr/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Further Insights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DDE2002F-EA21-6E0F-30C3-2868DE86C49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45904839"/>
              </p:ext>
            </p:extLst>
          </p:nvPr>
        </p:nvGraphicFramePr>
        <p:xfrm>
          <a:off x="839449" y="1379096"/>
          <a:ext cx="5180351" cy="425720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725951">
                  <a:extLst>
                    <a:ext uri="{9D8B030D-6E8A-4147-A177-3AD203B41FA5}">
                      <a16:colId xmlns:a16="http://schemas.microsoft.com/office/drawing/2014/main" val="41448474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15003557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652507988"/>
                    </a:ext>
                  </a:extLst>
                </a:gridCol>
              </a:tblGrid>
              <a:tr h="851441">
                <a:tc>
                  <a:txBody>
                    <a:bodyPr/>
                    <a:lstStyle/>
                    <a:p>
                      <a:r>
                        <a:rPr lang="en-US" sz="2000" b="1" dirty="0"/>
                        <a:t>Movie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Average rating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Votes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743829"/>
                  </a:ext>
                </a:extLst>
              </a:tr>
              <a:tr h="851441">
                <a:tc>
                  <a:txBody>
                    <a:bodyPr/>
                    <a:lstStyle/>
                    <a:p>
                      <a:r>
                        <a:rPr lang="en-IN" dirty="0"/>
                        <a:t>Shawshank Redemption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63,366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164923"/>
                  </a:ext>
                </a:extLst>
              </a:tr>
              <a:tr h="851441">
                <a:tc>
                  <a:txBody>
                    <a:bodyPr/>
                    <a:lstStyle/>
                    <a:p>
                      <a:r>
                        <a:rPr lang="en-IN" dirty="0"/>
                        <a:t>The Godfather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41,355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808087"/>
                  </a:ext>
                </a:extLst>
              </a:tr>
              <a:tr h="851441">
                <a:tc>
                  <a:txBody>
                    <a:bodyPr/>
                    <a:lstStyle/>
                    <a:p>
                      <a:r>
                        <a:rPr lang="en-IN" dirty="0"/>
                        <a:t>The Usual Suspects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47,006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189727"/>
                  </a:ext>
                </a:extLst>
              </a:tr>
              <a:tr h="851441">
                <a:tc>
                  <a:txBody>
                    <a:bodyPr/>
                    <a:lstStyle/>
                    <a:p>
                      <a:r>
                        <a:rPr lang="en-IN" dirty="0"/>
                        <a:t>Schindler's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50,054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067269"/>
                  </a:ext>
                </a:extLst>
              </a:tr>
            </a:tbl>
          </a:graphicData>
        </a:graphic>
      </p:graphicFrame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660CE9C-1B1C-786E-79C7-41AEE19CE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9095"/>
            <a:ext cx="5181600" cy="47978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Wins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movie titles to boost string-matching in rec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one-hot genre encoding → 22 clean genre vectors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matrix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(138k users × 27k movies)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+ Content Filtering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hybrid power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7C5D-D44F-2DBC-AF6E-1C47276B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E77B1A-2EB4-5231-879B-149B77FB51C6}"/>
              </a:ext>
            </a:extLst>
          </p:cNvPr>
          <p:cNvSpPr txBox="1"/>
          <p:nvPr/>
        </p:nvSpPr>
        <p:spPr>
          <a:xfrm>
            <a:off x="838200" y="5715298"/>
            <a:ext cx="4633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/>
              <a:t>Top Rated Movies (Min 100 Ratings).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was used to validate our recommendation strength]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793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55DB5D-2378-C58C-5F8F-56CDA6054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 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A075B7-1FE6-66EF-E1D4-1F37FD8D5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Obstacles and How We Tackled Them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0425D-BF19-8826-53E1-88B31779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2D10F3-623D-0170-6017-142AD5B16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756176"/>
              </p:ext>
            </p:extLst>
          </p:nvPr>
        </p:nvGraphicFramePr>
        <p:xfrm>
          <a:off x="838200" y="2504439"/>
          <a:ext cx="8128000" cy="385039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311201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61896011"/>
                    </a:ext>
                  </a:extLst>
                </a:gridCol>
              </a:tblGrid>
              <a:tr h="726433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Challenges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Solutions</a:t>
                      </a:r>
                      <a:endParaRPr lang="en-IN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8348758"/>
                  </a:ext>
                </a:extLst>
              </a:tr>
              <a:tr h="736522">
                <a:tc>
                  <a:txBody>
                    <a:bodyPr/>
                    <a:lstStyle/>
                    <a:p>
                      <a:r>
                        <a:rPr lang="en-US" b="1" dirty="0"/>
                        <a:t>No direct match for user input titles</a:t>
                      </a:r>
                      <a:r>
                        <a:rPr lang="en-US" dirty="0"/>
                        <a:t> (e.g., typos, year mismatch)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normalize_title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dirty="0"/>
                        <a:t>to clean, standardize and match efficiently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6410917"/>
                  </a:ext>
                </a:extLst>
              </a:tr>
              <a:tr h="736522">
                <a:tc>
                  <a:txBody>
                    <a:bodyPr/>
                    <a:lstStyle/>
                    <a:p>
                      <a:r>
                        <a:rPr lang="en-US" b="1" dirty="0"/>
                        <a:t>Huge Sparse Matrix</a:t>
                      </a:r>
                      <a:r>
                        <a:rPr lang="en-US" dirty="0"/>
                        <a:t> with 20M+ ratings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</a:t>
                      </a:r>
                      <a:r>
                        <a:rPr lang="en-US" b="1" dirty="0" err="1"/>
                        <a:t>Scipy’s</a:t>
                      </a:r>
                      <a:r>
                        <a:rPr lang="en-US" b="1" dirty="0"/>
                        <a:t> Sparse Matrix</a:t>
                      </a:r>
                      <a:r>
                        <a:rPr lang="en-US" dirty="0"/>
                        <a:t> (COO → CSR) to reduce memory and speed up KNN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90326186"/>
                  </a:ext>
                </a:extLst>
              </a:tr>
              <a:tr h="736522">
                <a:tc>
                  <a:txBody>
                    <a:bodyPr/>
                    <a:lstStyle/>
                    <a:p>
                      <a:r>
                        <a:rPr lang="en-US" dirty="0"/>
                        <a:t>Collaborative Filtering fails on niche movies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Added </a:t>
                      </a:r>
                      <a:r>
                        <a:rPr lang="en-US" b="1" dirty="0"/>
                        <a:t>Content-Based fallback</a:t>
                      </a:r>
                      <a:r>
                        <a:rPr lang="en-US" dirty="0"/>
                        <a:t> for low-rated or new movies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2237"/>
                  </a:ext>
                </a:extLst>
              </a:tr>
              <a:tr h="736522">
                <a:tc>
                  <a:txBody>
                    <a:bodyPr/>
                    <a:lstStyle/>
                    <a:p>
                      <a:r>
                        <a:rPr lang="en-US" b="1" dirty="0"/>
                        <a:t>Slow recommendation generation</a:t>
                      </a:r>
                      <a:r>
                        <a:rPr lang="en-US" dirty="0"/>
                        <a:t> on full dataset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neighbors + optimized content matrix pre-calculation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556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93965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6846</TotalTime>
  <Words>892</Words>
  <Application>Microsoft Office PowerPoint</Application>
  <PresentationFormat>Widescreen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Times New Roman</vt:lpstr>
      <vt:lpstr>Wingdings</vt:lpstr>
      <vt:lpstr>1_Office Theme</vt:lpstr>
      <vt:lpstr>2_Office Theme</vt:lpstr>
      <vt:lpstr>Contents Slide Master</vt:lpstr>
      <vt:lpstr>PowerPoint Presentation</vt:lpstr>
      <vt:lpstr>Outline</vt:lpstr>
      <vt:lpstr>Project Identification</vt:lpstr>
      <vt:lpstr>Need for the Project</vt:lpstr>
      <vt:lpstr>Objectives of the Work</vt:lpstr>
      <vt:lpstr>Sub-Objectives</vt:lpstr>
      <vt:lpstr>Innovation &amp; Uniqueness</vt:lpstr>
      <vt:lpstr>Conceptual Design and Methodology</vt:lpstr>
      <vt:lpstr>Methodology Steps</vt:lpstr>
      <vt:lpstr>PowerPoint Presentation</vt:lpstr>
      <vt:lpstr>Tools &amp; Technologies Used</vt:lpstr>
      <vt:lpstr>Results and Outputs: </vt:lpstr>
      <vt:lpstr>Progress Against Original Plan</vt:lpstr>
      <vt:lpstr>Refinements in Approach</vt:lpstr>
      <vt:lpstr>Ratings Distribution – User Behavior Insight :</vt:lpstr>
      <vt:lpstr>Exploring Further Insights :</vt:lpstr>
      <vt:lpstr>Challenges &amp; Solutions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Mohammad Umar</cp:lastModifiedBy>
  <cp:revision>494</cp:revision>
  <dcterms:created xsi:type="dcterms:W3CDTF">2019-01-09T10:33:58Z</dcterms:created>
  <dcterms:modified xsi:type="dcterms:W3CDTF">2025-04-11T00:56:13Z</dcterms:modified>
</cp:coreProperties>
</file>